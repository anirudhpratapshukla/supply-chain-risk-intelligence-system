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4" r:id="rId18"/>
    <p:sldId id="273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7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8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7453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6583680" cy="2880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26679" y="777240"/>
            <a:ext cx="3611880" cy="4754880"/>
          </a:xfrm>
          <a:prstGeom prst="roundRect">
            <a:avLst/>
          </a:prstGeom>
          <a:solidFill>
            <a:srgbClr val="1C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0" y="1234440"/>
            <a:ext cx="1554480" cy="1554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326880" y="2468880"/>
            <a:ext cx="1143000" cy="1143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49640" y="3703320"/>
            <a:ext cx="1280160" cy="128016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5840" y="1627632"/>
            <a:ext cx="160020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1719072"/>
            <a:ext cx="13258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Power BI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148840"/>
            <a:ext cx="5669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Supply Chain Risk Intelligence</a:t>
            </a:r>
          </a:p>
          <a:p>
            <a:r>
              <a:rPr sz="1500">
                <a:solidFill>
                  <a:srgbClr val="BFDBFE"/>
                </a:solidFill>
              </a:rPr>
              <a:t>Power BI dashboard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526280"/>
            <a:ext cx="5852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Prepared by Anirudh Shukla | Global risk visibility across suppliers, regions and logistics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7453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7955279" cy="530352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Aptos Display"/>
              </a:rPr>
              <a:t>Project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41832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50">
                <a:solidFill>
                  <a:srgbClr val="64748B"/>
                </a:solidFill>
                <a:latin typeface="Aptos"/>
              </a:rPr>
              <a:t>Prepared by Anirudh Shukla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1732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0976" y="161848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69164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" y="1618488"/>
            <a:ext cx="4297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</a:rPr>
              <a:t>Program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258568"/>
            <a:ext cx="48006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Build a Power BI dashboard to analyze and monitor global supply chain risks using large-scale datasets with 100,000+ rows.</a:t>
            </a:r>
          </a:p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Identify vulnerabilities across suppliers, regions and logistics networks</a:t>
            </a:r>
          </a:p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Track exposure linked to geopolitical issues, climate events and operational disruptions</a:t>
            </a:r>
          </a:p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Use data-driven intelligence to support strategic planning, risk mitigation and efficiency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074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166420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What this dashboard delivers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2148840"/>
            <a:ext cx="1920240" cy="9144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93992" y="233172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563EB"/>
                </a:solidFill>
              </a:rPr>
              <a:t>100,000+</a:t>
            </a:r>
          </a:p>
          <a:p>
            <a:r>
              <a:rPr sz="1000">
                <a:solidFill>
                  <a:srgbClr val="64748B"/>
                </a:solidFill>
              </a:rPr>
              <a:t>Rows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2148840"/>
            <a:ext cx="1920240" cy="91440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34272" y="233172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D9488"/>
                </a:solidFill>
              </a:rPr>
              <a:t>Suppliers</a:t>
            </a:r>
          </a:p>
          <a:p>
            <a:r>
              <a:rPr sz="1000">
                <a:solidFill>
                  <a:srgbClr val="64748B"/>
                </a:solidFill>
              </a:rPr>
              <a:t>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3474720"/>
            <a:ext cx="1920240" cy="91440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93992" y="365760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6B6D4"/>
                </a:solidFill>
              </a:rPr>
              <a:t>Regions</a:t>
            </a:r>
          </a:p>
          <a:p>
            <a:r>
              <a:rPr sz="1000">
                <a:solidFill>
                  <a:srgbClr val="64748B"/>
                </a:solidFill>
              </a:rPr>
              <a:t>Exposure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3474720"/>
            <a:ext cx="1920240" cy="914400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34272" y="365760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472B6"/>
                </a:solidFill>
              </a:rPr>
              <a:t>Actions</a:t>
            </a:r>
          </a:p>
          <a:p>
            <a:r>
              <a:rPr sz="1000">
                <a:solidFill>
                  <a:srgbClr val="64748B"/>
                </a:solidFill>
              </a:rPr>
              <a:t>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7453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7955279" cy="530352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Aptos Display"/>
              </a:rPr>
              <a:t>Project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41832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50">
                <a:solidFill>
                  <a:srgbClr val="64748B"/>
                </a:solidFill>
                <a:latin typeface="Aptos"/>
              </a:rPr>
              <a:t>Objective driven workflow for the Power BI 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2487168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7552" y="202996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210312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724912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Understand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91840"/>
            <a:ext cx="196596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</a:rPr>
              <a:t>Review structure, fields and source coverage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3592" y="1828800"/>
            <a:ext cx="2487168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803904" y="2029968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03904" y="210312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3904" y="2724912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Ensure Data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3291840"/>
            <a:ext cx="196596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dirty="0">
                <a:solidFill>
                  <a:srgbClr val="64748B"/>
                </a:solidFill>
              </a:rPr>
              <a:t>Validate records, formats, nulls and duplicates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9944" y="1828800"/>
            <a:ext cx="2487168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620256" y="2029968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0256" y="210312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24912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Define Business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6" y="3291840"/>
            <a:ext cx="196596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</a:rPr>
              <a:t>Translate supply-chain pain points into analytics goals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26296" y="1828800"/>
            <a:ext cx="2487168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436608" y="2029968"/>
            <a:ext cx="502920" cy="50292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36608" y="210312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6608" y="2724912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Prepare for Dashboard Building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3291840"/>
            <a:ext cx="1978152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dirty="0">
                <a:solidFill>
                  <a:srgbClr val="64748B"/>
                </a:solidFill>
              </a:rPr>
              <a:t>Model data and design reporting views for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7453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7955279" cy="530352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Aptos Display"/>
              </a:rPr>
              <a:t>Data Collection and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41832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50">
                <a:solidFill>
                  <a:srgbClr val="64748B"/>
                </a:solidFill>
                <a:latin typeface="Aptos"/>
              </a:rPr>
              <a:t>Prepared by Anirudh Shukla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63040"/>
            <a:ext cx="7543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0976" y="166420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73736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" y="1664208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</a:rPr>
              <a:t>Data Collection and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304288"/>
            <a:ext cx="6995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Downloaded main and backup datasets</a:t>
            </a:r>
          </a:p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Checked row counts across all loaded files</a:t>
            </a:r>
          </a:p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Removed duplicates, inconsistencies and structural errors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463040"/>
            <a:ext cx="2880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869680" y="1828800"/>
            <a:ext cx="2194560" cy="67665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202996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563EB"/>
                </a:solidFill>
              </a:rPr>
              <a:t>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880360"/>
            <a:ext cx="2194560" cy="676656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308152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D9488"/>
                </a:solidFill>
              </a:rPr>
              <a:t>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931920"/>
            <a:ext cx="2194560" cy="676656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4133087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472B6"/>
                </a:solidFill>
              </a:rPr>
              <a:t>Insight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7453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7955279" cy="530352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Aptos Display"/>
              </a:rPr>
              <a:t>Data Dictionary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41832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50">
                <a:solidFill>
                  <a:srgbClr val="64748B"/>
                </a:solidFill>
                <a:latin typeface="Aptos"/>
              </a:rPr>
              <a:t>Power BI workflow and dashboard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63040"/>
            <a:ext cx="7543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0976" y="166420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73736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" y="1664208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</a:rPr>
              <a:t>Data Dictionary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304288"/>
            <a:ext cx="6995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Documented each column name and business meaning</a:t>
            </a:r>
          </a:p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Validated data types for dates, currency and categories</a:t>
            </a:r>
          </a:p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Reviewed example values to confirm consistency and usability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463040"/>
            <a:ext cx="2880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869680" y="1828800"/>
            <a:ext cx="2194560" cy="67665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202996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563EB"/>
                </a:solidFill>
              </a:rPr>
              <a:t>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880360"/>
            <a:ext cx="2194560" cy="676656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308152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D9488"/>
                </a:solidFill>
              </a:rPr>
              <a:t>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931920"/>
            <a:ext cx="2194560" cy="676656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4133087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472B6"/>
                </a:solidFill>
              </a:rPr>
              <a:t>Insight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7453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7955279" cy="530352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Aptos Display"/>
              </a:rPr>
              <a:t>Data Loading in 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41832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50">
                <a:solidFill>
                  <a:srgbClr val="64748B"/>
                </a:solidFill>
                <a:latin typeface="Aptos"/>
              </a:rPr>
              <a:t>Power BI workflow and dashboard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63040"/>
            <a:ext cx="7543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0976" y="166420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73736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" y="1664208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</a:rPr>
              <a:t>Data Loading in 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304288"/>
            <a:ext cx="6995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Imported cleaned datasets into Power BI Desktop</a:t>
            </a:r>
          </a:p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Rechecked row counts and detected type mismatches</a:t>
            </a:r>
          </a:p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Created relationships between key supplier, trade and logistics tables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463040"/>
            <a:ext cx="2880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869680" y="1828800"/>
            <a:ext cx="2194560" cy="67665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202996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563EB"/>
                </a:solidFill>
              </a:rPr>
              <a:t>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880360"/>
            <a:ext cx="2194560" cy="676656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308152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D9488"/>
                </a:solidFill>
              </a:rPr>
              <a:t>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931920"/>
            <a:ext cx="2194560" cy="676656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4133087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472B6"/>
                </a:solidFill>
              </a:rPr>
              <a:t>Insight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7453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7955279" cy="530352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Aptos Display"/>
              </a:rPr>
              <a:t>Exploratory 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41832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50">
                <a:solidFill>
                  <a:srgbClr val="64748B"/>
                </a:solidFill>
                <a:latin typeface="Aptos"/>
              </a:rPr>
              <a:t>Power BI workflow and dashboard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63040"/>
            <a:ext cx="7543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0976" y="166420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73736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" y="1664208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</a:rPr>
              <a:t>Exploratory Data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304288"/>
            <a:ext cx="6995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Studied distributions, trends and operational variability</a:t>
            </a:r>
          </a:p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Identified outliers in shipping cost, delays and trade exposure</a:t>
            </a:r>
          </a:p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Used basic visuals to reveal early patterns and risk signals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463040"/>
            <a:ext cx="2880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869680" y="1828800"/>
            <a:ext cx="2194560" cy="67665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202996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563EB"/>
                </a:solidFill>
              </a:rPr>
              <a:t>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880360"/>
            <a:ext cx="2194560" cy="676656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308152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D9488"/>
                </a:solidFill>
              </a:rPr>
              <a:t>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931920"/>
            <a:ext cx="2194560" cy="676656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4133087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472B6"/>
                </a:solidFill>
              </a:rPr>
              <a:t>Insight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7453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7955279" cy="530352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Aptos Display"/>
              </a:rPr>
              <a:t>Missing Data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41832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50">
                <a:solidFill>
                  <a:srgbClr val="64748B"/>
                </a:solidFill>
                <a:latin typeface="Aptos"/>
              </a:rPr>
              <a:t>Power BI workflow and dashboard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63040"/>
            <a:ext cx="7543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0976" y="166420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73736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" y="1664208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</a:rPr>
              <a:t>Missing Data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304288"/>
            <a:ext cx="6995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Identified nulls and incomplete operational fields</a:t>
            </a:r>
          </a:p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Removed, replaced or retained gaps based on business importance</a:t>
            </a:r>
          </a:p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Improved reporting accuracy without overstating certainty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463040"/>
            <a:ext cx="2880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869680" y="1828800"/>
            <a:ext cx="2194560" cy="67665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202996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563EB"/>
                </a:solidFill>
              </a:rPr>
              <a:t>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880360"/>
            <a:ext cx="2194560" cy="676656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308152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D9488"/>
                </a:solidFill>
              </a:rPr>
              <a:t>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931920"/>
            <a:ext cx="2194560" cy="676656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4133087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472B6"/>
                </a:solidFill>
              </a:rPr>
              <a:t>Insight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7453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7955279" cy="530352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Aptos Display"/>
              </a:rPr>
              <a:t>Core Business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41832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50">
                <a:solidFill>
                  <a:srgbClr val="64748B"/>
                </a:solidFill>
                <a:latin typeface="Aptos"/>
              </a:rPr>
              <a:t>Questions the dashboard should answer clearly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600200"/>
            <a:ext cx="5074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7552" y="180136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1874519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5064" y="1874519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69567" y="1961388"/>
            <a:ext cx="45262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rPr dirty="0"/>
              <a:t>Which regions carry the highest supply-chain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1600200"/>
            <a:ext cx="5074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28816" y="1801368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28816" y="1874519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6328" y="1801368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31736" y="1874519"/>
            <a:ext cx="45262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rPr dirty="0"/>
              <a:t>Which suppliers appear most unreliable or concentrated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2832354"/>
            <a:ext cx="5074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Oval 18"/>
          <p:cNvSpPr/>
          <p:nvPr/>
        </p:nvSpPr>
        <p:spPr>
          <a:xfrm>
            <a:off x="987552" y="3035808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310896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55064" y="2946654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90472" y="3143362"/>
            <a:ext cx="45262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rPr dirty="0"/>
              <a:t>What are the major causes of delays and disruption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2818150"/>
            <a:ext cx="5074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28816" y="3035808"/>
            <a:ext cx="502920" cy="50292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28816" y="310896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8" y="3035808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13373" y="3059193"/>
            <a:ext cx="45262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rPr dirty="0"/>
              <a:t>Which transportation modes create the most exposure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" y="4069080"/>
            <a:ext cx="5074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87552" y="4270248"/>
            <a:ext cx="502920" cy="50292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" y="434340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55064" y="4270248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490472" y="4430268"/>
            <a:ext cx="45262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rPr dirty="0"/>
              <a:t>Where are cost spikes and trade volatility most visible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27648" y="4069080"/>
            <a:ext cx="5074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528816" y="427024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28816" y="434340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96328" y="4270248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13373" y="4343400"/>
            <a:ext cx="45262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rPr dirty="0"/>
              <a:t>Which dependencies threaten resilience the most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7453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7955279" cy="530352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Aptos Display"/>
              </a:rPr>
              <a:t>Dataset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41832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50">
                <a:solidFill>
                  <a:srgbClr val="64748B"/>
                </a:solidFill>
                <a:latin typeface="Aptos"/>
              </a:rPr>
              <a:t>Power BI workflow and dashboard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63040"/>
            <a:ext cx="7543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0976" y="166420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73736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" y="1664208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</a:rPr>
              <a:t>Dataset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304288"/>
            <a:ext cx="6995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Integrated supplier, logistics, shipping cost and trade datasets</a:t>
            </a:r>
          </a:p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Blended operational metrics with structured trade data</a:t>
            </a:r>
          </a:p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Prepared and shaped data using Power Query workflows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463040"/>
            <a:ext cx="2880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869680" y="1828800"/>
            <a:ext cx="2194560" cy="67665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202996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563EB"/>
                </a:solidFill>
              </a:rPr>
              <a:t>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880360"/>
            <a:ext cx="2194560" cy="676656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308152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D9488"/>
                </a:solidFill>
              </a:rPr>
              <a:t>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931920"/>
            <a:ext cx="2194560" cy="676656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4133087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472B6"/>
                </a:solidFill>
              </a:rPr>
              <a:t>Insight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7453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7955279" cy="530352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Aptos Display"/>
              </a:rPr>
              <a:t>Data Model and DAX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41832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50">
                <a:solidFill>
                  <a:srgbClr val="64748B"/>
                </a:solidFill>
                <a:latin typeface="Aptos"/>
              </a:rPr>
              <a:t>Power BI workflow and dashboard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63040"/>
            <a:ext cx="7543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0976" y="166420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73736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" y="1664208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</a:rPr>
              <a:t>Data Model and DAX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304288"/>
            <a:ext cx="6995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Built clean relationships across supplier, region and logistics tables</a:t>
            </a:r>
          </a:p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Created measures for trade value, shipping cost, delay rate and risk score</a:t>
            </a:r>
          </a:p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Enabled drill-down analysis through slicers, filters and dynamic KPI 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463040"/>
            <a:ext cx="2880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869680" y="1828800"/>
            <a:ext cx="2194560" cy="67665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202996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563EB"/>
                </a:solidFill>
              </a:rPr>
              <a:t>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880360"/>
            <a:ext cx="2194560" cy="676656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308152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D9488"/>
                </a:solidFill>
              </a:rPr>
              <a:t>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931920"/>
            <a:ext cx="2194560" cy="676656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4133087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472B6"/>
                </a:solidFill>
              </a:rPr>
              <a:t>Insight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7453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7955279" cy="530352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Aptos Display"/>
              </a:rPr>
              <a:t>Executive Overview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41832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50">
                <a:solidFill>
                  <a:srgbClr val="64748B"/>
                </a:solidFill>
                <a:latin typeface="Aptos"/>
              </a:rPr>
              <a:t>Microsoft-style Power BI dashboard mock preview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17320"/>
            <a:ext cx="24231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1417320"/>
            <a:ext cx="242316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581912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64748B"/>
                </a:solidFill>
              </a:rPr>
              <a:t>Trade Value</a:t>
            </a:r>
          </a:p>
          <a:p>
            <a:r>
              <a:rPr sz="2200" b="1">
                <a:solidFill>
                  <a:srgbClr val="1E293B"/>
                </a:solidFill>
              </a:rPr>
              <a:t>$42.8M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7" y="16002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</a:rPr>
              <a:t>+8.4%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417320"/>
            <a:ext cx="24231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1417320"/>
            <a:ext cx="242316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83864" y="1581912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64748B"/>
                </a:solidFill>
              </a:rPr>
              <a:t>Suppliers</a:t>
            </a:r>
          </a:p>
          <a:p>
            <a:r>
              <a:rPr sz="2200" b="1">
                <a:solidFill>
                  <a:srgbClr val="1E293B"/>
                </a:solidFill>
              </a:rPr>
              <a:t>128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6002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D9488"/>
                </a:solidFill>
              </a:rPr>
              <a:t>+5.1%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25312" y="1417320"/>
            <a:ext cx="24231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25312" y="1417320"/>
            <a:ext cx="2423160" cy="914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71616" y="1581912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64748B"/>
                </a:solidFill>
              </a:rPr>
              <a:t>High Risk</a:t>
            </a:r>
          </a:p>
          <a:p>
            <a:r>
              <a:rPr sz="2200" b="1">
                <a:solidFill>
                  <a:srgbClr val="1E293B"/>
                </a:solidFill>
              </a:rP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2" y="16002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472B6"/>
                </a:solidFill>
              </a:rPr>
              <a:t>-2.7%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1417320"/>
            <a:ext cx="29260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59952" y="164592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Filters  Region  Supplier  Mode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2697480"/>
            <a:ext cx="566928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2907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E293B"/>
                </a:solidFill>
              </a:rPr>
              <a:t>Risk trend by month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4251960"/>
            <a:ext cx="685800" cy="36575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828800" y="4251960"/>
            <a:ext cx="685800" cy="13715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514600" y="3749039"/>
            <a:ext cx="68580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0" y="3749039"/>
            <a:ext cx="640080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40480" y="3401568"/>
            <a:ext cx="731519" cy="57607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0" y="3401568"/>
            <a:ext cx="685800" cy="2743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257800" y="3246120"/>
            <a:ext cx="640080" cy="429767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43000" y="461772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828800" y="425196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514600" y="438912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200400" y="3749039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840480" y="3977639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572000" y="340156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257800" y="3675887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897880" y="324612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629400" y="2697480"/>
            <a:ext cx="23317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39712" y="290779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E293B"/>
                </a:solidFill>
              </a:rPr>
              <a:t>Exposure by mode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03720" y="4206240"/>
            <a:ext cx="25603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324344" y="3429000"/>
            <a:ext cx="256032" cy="1554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744968" y="3840480"/>
            <a:ext cx="256032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165592" y="3154680"/>
            <a:ext cx="256032" cy="18288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189720" y="2697480"/>
            <a:ext cx="22860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400032" y="2907792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E293B"/>
                </a:solidFill>
              </a:rPr>
              <a:t>Risk mix</a:t>
            </a:r>
          </a:p>
        </p:txBody>
      </p:sp>
      <p:sp>
        <p:nvSpPr>
          <p:cNvPr id="47" name="Oval 46"/>
          <p:cNvSpPr/>
          <p:nvPr/>
        </p:nvSpPr>
        <p:spPr>
          <a:xfrm>
            <a:off x="9710928" y="3401568"/>
            <a:ext cx="1097280" cy="10972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857232" y="3547872"/>
            <a:ext cx="804672" cy="804672"/>
          </a:xfrm>
          <a:prstGeom prst="ellipse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96112" y="5532120"/>
            <a:ext cx="10378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B"/>
                </a:solidFill>
              </a:rPr>
              <a:t>Top KPI cards for trade value, suppliers and high-risk exposure | Quick view of global posture for faster decisions | Presentation-ready layout with strong filter navigation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7453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7955279" cy="530352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Aptos Display"/>
              </a:rPr>
              <a:t>Supplier and Region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41832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50">
                <a:solidFill>
                  <a:srgbClr val="64748B"/>
                </a:solidFill>
                <a:latin typeface="Aptos"/>
              </a:rPr>
              <a:t>Microsoft-style Power BI dashboard mock preview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17320"/>
            <a:ext cx="24231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1417320"/>
            <a:ext cx="242316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581912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64748B"/>
                </a:solidFill>
              </a:rPr>
              <a:t>Trade Value</a:t>
            </a:r>
          </a:p>
          <a:p>
            <a:r>
              <a:rPr sz="2200" b="1">
                <a:solidFill>
                  <a:srgbClr val="1E293B"/>
                </a:solidFill>
              </a:rPr>
              <a:t>$42.8M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7" y="16002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</a:rPr>
              <a:t>+8.4%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417320"/>
            <a:ext cx="24231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1417320"/>
            <a:ext cx="242316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83864" y="1581912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64748B"/>
                </a:solidFill>
              </a:rPr>
              <a:t>Suppliers</a:t>
            </a:r>
          </a:p>
          <a:p>
            <a:r>
              <a:rPr sz="2200" b="1">
                <a:solidFill>
                  <a:srgbClr val="1E293B"/>
                </a:solidFill>
              </a:rPr>
              <a:t>128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6002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0D9488"/>
                </a:solidFill>
              </a:rPr>
              <a:t>+5.1%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25312" y="1417320"/>
            <a:ext cx="24231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25312" y="1417320"/>
            <a:ext cx="2423160" cy="914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71616" y="1581912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64748B"/>
                </a:solidFill>
              </a:rPr>
              <a:t>High Risk</a:t>
            </a:r>
          </a:p>
          <a:p>
            <a:r>
              <a:rPr sz="2200" b="1">
                <a:solidFill>
                  <a:srgbClr val="1E293B"/>
                </a:solidFill>
              </a:rP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2" y="16002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472B6"/>
                </a:solidFill>
              </a:rPr>
              <a:t>-2.7%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1417320"/>
            <a:ext cx="29260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59952" y="164592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Filters  Region  Supplier  Mode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2697480"/>
            <a:ext cx="566928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2907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E293B"/>
                </a:solidFill>
              </a:rPr>
              <a:t>Risk trend by month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4251960"/>
            <a:ext cx="685800" cy="36575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828800" y="4251960"/>
            <a:ext cx="685800" cy="13715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514600" y="3749039"/>
            <a:ext cx="68580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0" y="3749039"/>
            <a:ext cx="640080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40480" y="3401568"/>
            <a:ext cx="731519" cy="57607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0" y="3401568"/>
            <a:ext cx="685800" cy="2743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257800" y="3246120"/>
            <a:ext cx="640080" cy="429767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43000" y="461772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828800" y="425196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514600" y="438912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200400" y="3749039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840480" y="3977639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572000" y="340156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257800" y="3675887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897880" y="324612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629400" y="2697480"/>
            <a:ext cx="23317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39712" y="290779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E293B"/>
                </a:solidFill>
              </a:rPr>
              <a:t>Exposure by mode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03720" y="4206240"/>
            <a:ext cx="25603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324344" y="3429000"/>
            <a:ext cx="256032" cy="1554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744968" y="3840480"/>
            <a:ext cx="256032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165592" y="3154680"/>
            <a:ext cx="256032" cy="18288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189720" y="2697480"/>
            <a:ext cx="22860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400032" y="2907792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E293B"/>
                </a:solidFill>
              </a:rPr>
              <a:t>Risk mix</a:t>
            </a:r>
          </a:p>
        </p:txBody>
      </p:sp>
      <p:sp>
        <p:nvSpPr>
          <p:cNvPr id="47" name="Oval 46"/>
          <p:cNvSpPr/>
          <p:nvPr/>
        </p:nvSpPr>
        <p:spPr>
          <a:xfrm>
            <a:off x="9710928" y="3401568"/>
            <a:ext cx="1097280" cy="10972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857232" y="3547872"/>
            <a:ext cx="804672" cy="804672"/>
          </a:xfrm>
          <a:prstGeom prst="ellipse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96112" y="5532120"/>
            <a:ext cx="10378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B"/>
                </a:solidFill>
              </a:rPr>
              <a:t>Deep dive into supplier reliability and concentration | Regional view of risk hotspots and disruption trends | Supports mitigation planning and sourcing alternatives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7453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7955279" cy="530352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Aptos Display"/>
              </a:rPr>
              <a:t>Key Business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41832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50">
                <a:solidFill>
                  <a:srgbClr val="64748B"/>
                </a:solidFill>
                <a:latin typeface="Aptos"/>
              </a:rPr>
              <a:t>Executive summary from the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60020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18275" y="2011681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6563" y="2084832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5064" y="1801368"/>
            <a:ext cx="3977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72768" y="1961388"/>
            <a:ext cx="448056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rPr dirty="0"/>
              <a:t>Trade exposure is concentrated in a limited set of major corridors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60020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92240" y="2011681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084832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1801368"/>
            <a:ext cx="3977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95160" y="1975105"/>
            <a:ext cx="448056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rPr dirty="0"/>
              <a:t>Road and rail show the highest logistics exposure in the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483864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06861" y="3977640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9708" y="4027931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55064" y="3685032"/>
            <a:ext cx="3977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15287" y="3936568"/>
            <a:ext cx="448056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rPr dirty="0"/>
              <a:t>Supplier dependency creates concentrated operational risk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483864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19088" y="3954780"/>
            <a:ext cx="502920" cy="50292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4027932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9752" y="3685032"/>
            <a:ext cx="3977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25056" y="3931920"/>
            <a:ext cx="448056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rPr dirty="0"/>
              <a:t>Cross-border volatility directly affects resilience and planning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7453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7955279" cy="530352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Aptos Display"/>
              </a:rPr>
              <a:t>Project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941832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50">
                <a:solidFill>
                  <a:srgbClr val="64748B"/>
                </a:solidFill>
                <a:latin typeface="Aptos"/>
              </a:rPr>
              <a:t>Power BI workflow and dashboard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63040"/>
            <a:ext cx="7543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0976" y="166420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73736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" y="1664208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</a:rPr>
              <a:t>Project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304288"/>
            <a:ext cx="6995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Delivered a Power BI solution for supply-chain intelligence</a:t>
            </a:r>
          </a:p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Supports strategic planning, risk mitigation and operational efficiency</a:t>
            </a:r>
          </a:p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</a:defRPr>
            </a:pPr>
            <a:r>
              <a:t>Demonstrates practical BI reporting, transformation and analytics capability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463040"/>
            <a:ext cx="2880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869680" y="1828800"/>
            <a:ext cx="2194560" cy="67665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202996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563EB"/>
                </a:solidFill>
              </a:rPr>
              <a:t>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880360"/>
            <a:ext cx="2194560" cy="676656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308152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D9488"/>
                </a:solidFill>
              </a:rPr>
              <a:t>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931920"/>
            <a:ext cx="2194560" cy="676656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4133087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472B6"/>
                </a:solidFill>
              </a:rPr>
              <a:t>Insight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6C6BD7-7E02-524E-8D70-4A33A5D02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330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3623F8-898F-232D-3BB7-E6D3FCE16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628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9F7FBD-AF9E-9960-AA62-4724CA7D4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446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8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7453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6583680" cy="2880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26679" y="777240"/>
            <a:ext cx="3611880" cy="4754880"/>
          </a:xfrm>
          <a:prstGeom prst="roundRect">
            <a:avLst/>
          </a:prstGeom>
          <a:solidFill>
            <a:srgbClr val="1C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0" y="1234440"/>
            <a:ext cx="1554480" cy="1554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326880" y="2468880"/>
            <a:ext cx="1143000" cy="1143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49640" y="3703320"/>
            <a:ext cx="1280160" cy="128016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5840" y="1627632"/>
            <a:ext cx="160020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1719072"/>
            <a:ext cx="13258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Power BI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148840"/>
            <a:ext cx="5669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Thank You</a:t>
            </a:r>
          </a:p>
          <a:p>
            <a:r>
              <a:rPr sz="1500">
                <a:solidFill>
                  <a:srgbClr val="E2E8F0"/>
                </a:solidFill>
              </a:rPr>
              <a:t>Supply Chain Risk Intelligence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526280"/>
            <a:ext cx="5852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Prepared by Anirudh Shukla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757</Words>
  <Application>Microsoft Office PowerPoint</Application>
  <PresentationFormat>Widescreen</PresentationFormat>
  <Paragraphs>191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Anirudh  Pratap Shukla</dc:creator>
  <cp:keywords/>
  <dc:description>generated using python-pptx</dc:description>
  <cp:lastModifiedBy>Anirudh  Pratap Shukla</cp:lastModifiedBy>
  <cp:revision>5</cp:revision>
  <dcterms:created xsi:type="dcterms:W3CDTF">2013-01-27T09:14:16Z</dcterms:created>
  <dcterms:modified xsi:type="dcterms:W3CDTF">2026-05-13T13:17:59Z</dcterms:modified>
  <cp:category/>
</cp:coreProperties>
</file>